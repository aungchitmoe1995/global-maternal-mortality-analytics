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777240"/>
            <a:ext cx="128016" cy="3749039"/>
          </a:xfrm>
          <a:prstGeom prst="rect">
            <a:avLst/>
          </a:prstGeom>
          <a:solidFill>
            <a:srgbClr val="BE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777240"/>
            <a:ext cx="10424160" cy="374903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87171"/>
                </a:solidFill>
              </a:defRPr>
            </a:pPr>
            <a:r>
              <a:t>GLOBAL PUBLIC-HEALTH &amp; EPIDEMIOLOGICAL DATA STUDY</a:t>
            </a:r>
          </a:p>
          <a:p>
            <a:pPr>
              <a:spcAft>
                <a:spcPts val="1400"/>
              </a:spcAft>
              <a:defRPr sz="3400" b="1">
                <a:solidFill>
                  <a:srgbClr val="FFFFFF"/>
                </a:solidFill>
              </a:defRPr>
            </a:pPr>
            <a:r>
              <a:t>Macroeconomic Financing, Demographic Transition, and Global Maternal Mortality</a:t>
            </a:r>
          </a:p>
          <a:p>
            <a:pPr>
              <a:spcAft>
                <a:spcPts val="2600"/>
              </a:spcAft>
              <a:defRPr sz="2000">
                <a:solidFill>
                  <a:srgbClr val="CBD5E1"/>
                </a:solidFill>
              </a:defRPr>
            </a:pPr>
            <a:r>
              <a:t>A 24-Year Longitudinal Panel Study Across 195 Countries (177 Balanced Panel, 2000–2023)</a:t>
            </a:r>
          </a:p>
          <a:p>
            <a:pPr>
              <a:spcAft>
                <a:spcPts val="600"/>
              </a:spcAft>
              <a:defRPr sz="1550" b="1">
                <a:solidFill>
                  <a:srgbClr val="F1F5F9"/>
                </a:solidFill>
              </a:defRPr>
            </a:pPr>
            <a:r>
              <a:t>Investigator: Dr. Aung Chit Moe (MBBS) • Healthcare Data Analytics &amp; Clinical Research</a:t>
            </a:r>
          </a:p>
          <a:p>
            <a:pPr>
              <a:defRPr sz="1350">
                <a:solidFill>
                  <a:srgbClr val="94A3B8"/>
                </a:solidFill>
              </a:defRPr>
            </a:pPr>
            <a:r>
              <a:t>Primary Data: WHO/UN MMEIG 2025 Estimation Round (ISBN 978-92-4-010846-2) &amp; World Bank WDI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892040"/>
            <a:ext cx="2560320" cy="1417320"/>
          </a:xfrm>
          <a:prstGeom prst="rect">
            <a:avLst/>
          </a:prstGeom>
          <a:solidFill>
            <a:srgbClr val="1B365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/>
          <a:lstStyle/>
          <a:p>
            <a:pPr algn="ctr">
              <a:spcAft>
                <a:spcPts val="300"/>
              </a:spcAft>
              <a:defRPr sz="1800" b="1">
                <a:solidFill>
                  <a:srgbClr val="5EEAD4"/>
                </a:solidFill>
              </a:defRPr>
            </a:pPr>
            <a:r>
              <a:t>177 COUNTRIES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Balanced 24-Year Panel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4,248 continuous country-years (of 195 sovereign nations)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47288" y="4892040"/>
            <a:ext cx="2560320" cy="1417320"/>
          </a:xfrm>
          <a:prstGeom prst="rect">
            <a:avLst/>
          </a:prstGeom>
          <a:solidFill>
            <a:srgbClr val="1B365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/>
          <a:lstStyle/>
          <a:p>
            <a:pPr algn="ctr">
              <a:spcAft>
                <a:spcPts val="300"/>
              </a:spcAft>
              <a:defRPr sz="1800" b="1">
                <a:solidFill>
                  <a:srgbClr val="5EEAD4"/>
                </a:solidFill>
              </a:defRPr>
            </a:pPr>
            <a:r>
              <a:t>WHO MMEIG 2025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80% Uncertainty Bounds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Point estimate (0.5) + 10th &amp; 90th percentile sensitivity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08776" y="4892040"/>
            <a:ext cx="2560320" cy="1417320"/>
          </a:xfrm>
          <a:prstGeom prst="rect">
            <a:avLst/>
          </a:prstGeom>
          <a:solidFill>
            <a:srgbClr val="1B365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/>
          <a:lstStyle/>
          <a:p>
            <a:pPr algn="ctr">
              <a:spcAft>
                <a:spcPts val="300"/>
              </a:spcAft>
              <a:defRPr sz="1800" b="1">
                <a:solidFill>
                  <a:srgbClr val="5EEAD4"/>
                </a:solidFill>
              </a:defRPr>
            </a:pPr>
            <a:r>
              <a:t>-29.0% MMR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Per Doubling of Real GDP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Two-Way Fixed Effects panel elasticity (p &lt; 0.001)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0264" y="4892040"/>
            <a:ext cx="2560320" cy="1417320"/>
          </a:xfrm>
          <a:prstGeom prst="rect">
            <a:avLst/>
          </a:prstGeom>
          <a:solidFill>
            <a:srgbClr val="1B365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/>
          <a:lstStyle/>
          <a:p>
            <a:pPr algn="ctr">
              <a:spcAft>
                <a:spcPts val="300"/>
              </a:spcAft>
              <a:defRPr sz="1800" b="1">
                <a:solidFill>
                  <a:srgbClr val="5EEAD4"/>
                </a:solidFill>
              </a:defRPr>
            </a:pPr>
            <a:r>
              <a:t>100% VERIFIED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Zero Synthetic Data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No forward-filling, no circular SBA modeling (Rules 3 &amp; 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E2623"/>
                </a:solidFill>
              </a:defRPr>
            </a:pPr>
            <a:r>
              <a:t>CLINICAL &amp; EPIDEMIOLOGICAL CONTEXT</a:t>
            </a:r>
          </a:p>
          <a:p>
            <a:pPr>
              <a:spcBef>
                <a:spcPts val="200"/>
              </a:spcBef>
              <a:defRPr sz="2250" b="1">
                <a:solidFill>
                  <a:srgbClr val="1B365D"/>
                </a:solidFill>
              </a:defRPr>
            </a:pPr>
            <a:r>
              <a:t>The Global Challenge: Clinical Reality &amp; The Three Delays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17352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817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Maternal Mortality Community Research Project (2000–2023)  •  WHO/UN MMEIG 2025 &amp; World Bank WDI  •  Slide 2 of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10817352" cy="1143000"/>
          </a:xfrm>
          <a:prstGeom prst="rect">
            <a:avLst/>
          </a:prstGeom>
          <a:solidFill>
            <a:srgbClr val="FEF2F2"/>
          </a:solidFill>
          <a:ln w="12700">
            <a:solidFill>
              <a:srgbClr val="BE2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61872"/>
            <a:ext cx="91440" cy="1143000"/>
          </a:xfrm>
          <a:prstGeom prst="rect">
            <a:avLst/>
          </a:prstGeom>
          <a:solidFill>
            <a:srgbClr val="BE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408175"/>
            <a:ext cx="10415016" cy="8869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BE2623"/>
                </a:solidFill>
              </a:defRPr>
            </a:pPr>
            <a:r>
              <a:t>THE CLINICAL REALITY: &gt;260,000 PREVENTABLE MATERNAL DEATHS IN 2023 (~700 WOMEN EVERY DAY)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Leading direct obstetric causes: Severe Postpartum Hemorrhage (uterine atony), Hypertensive Disorders (preeclampsia/eclampsia), Puerperal Sepsis, and Obstructed Labor. Effective bedside treatments exist (oxytocin, MgSO4, antibiotics, C-section), yet survival depends on systemic infrastructure.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60320"/>
            <a:ext cx="3465576" cy="2148840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560320"/>
            <a:ext cx="3465576" cy="6400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734056"/>
            <a:ext cx="3099815" cy="18653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365D"/>
                </a:solidFill>
              </a:defRPr>
            </a:pPr>
            <a:r>
              <a:t>DELAY 1: SEEKING CARE</a:t>
            </a:r>
          </a:p>
          <a:p>
            <a:pPr>
              <a:spcAft>
                <a:spcPts val="600"/>
              </a:spcAft>
              <a:defRPr sz="1250" b="1">
                <a:solidFill>
                  <a:srgbClr val="475569"/>
                </a:solidFill>
              </a:defRPr>
            </a:pPr>
            <a:r>
              <a:t>Household &amp; Sociocultural Barriers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Lack of female financial autonomy and catastrophic out-of-pocket delivery fees.</a:t>
            </a:r>
            <a:br/>
            <a:r>
              <a:t>• Low reproductive health literacy and inability to recognize obstetric danger signs.</a:t>
            </a:r>
            <a:br/>
            <a:r>
              <a:t>• Acute social stigma surrounding adolescent and unmarried pregnancy.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2560320"/>
            <a:ext cx="3465576" cy="2148840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2560320"/>
            <a:ext cx="3465576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5" y="2734056"/>
            <a:ext cx="3099815" cy="18653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766E"/>
                </a:solidFill>
              </a:defRPr>
            </a:pPr>
            <a:r>
              <a:t>DELAY 2: REACHING CARE</a:t>
            </a:r>
          </a:p>
          <a:p>
            <a:pPr>
              <a:spcAft>
                <a:spcPts val="600"/>
              </a:spcAft>
              <a:defRPr sz="1250" b="1">
                <a:solidFill>
                  <a:srgbClr val="475569"/>
                </a:solidFill>
              </a:defRPr>
            </a:pPr>
            <a:r>
              <a:t>Geographic &amp; Transport Infrastructure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Unpaved rural roads, monsoon flooding, and river/mountain barriers.</a:t>
            </a:r>
            <a:br/>
            <a:r>
              <a:t>• Absence of community ambulances, maternity waiting homes, and telecom networks.</a:t>
            </a:r>
            <a:br/>
            <a:r>
              <a:t>• Fatal hemorrhage (PPH) can kill a mother within 2 hours without rapid transport.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7575" y="2560320"/>
            <a:ext cx="3465576" cy="2148840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5" y="2560320"/>
            <a:ext cx="3465576" cy="640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2734056"/>
            <a:ext cx="3099815" cy="18653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4338CA"/>
                </a:solidFill>
              </a:defRPr>
            </a:pPr>
            <a:r>
              <a:t>DELAY 3: RECEIVING QUALITY CARE</a:t>
            </a:r>
          </a:p>
          <a:p>
            <a:pPr>
              <a:spcAft>
                <a:spcPts val="600"/>
              </a:spcAft>
              <a:defRPr sz="1250" b="1">
                <a:solidFill>
                  <a:srgbClr val="475569"/>
                </a:solidFill>
              </a:defRPr>
            </a:pPr>
            <a:r>
              <a:t>Facility Readiness &amp; Health Financing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Shortage of 24/7 Comprehensive Emergency Obstetric Care (CEmOC) surgical teams.</a:t>
            </a:r>
            <a:br/>
            <a:r>
              <a:t>• Unreliable hospital electricity for emergency cesarean sections.</a:t>
            </a:r>
            <a:br/>
            <a:r>
              <a:t>• Stockouts of tranexamic acid, oxytocin cold-chains, and cross-matched blood.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864608"/>
            <a:ext cx="5312664" cy="148132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864608"/>
            <a:ext cx="73152" cy="14813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5010912"/>
            <a:ext cx="4928616" cy="12252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1B365D"/>
                </a:solidFill>
              </a:defRPr>
            </a:pPr>
            <a:r>
              <a:t>METHODOLOGICAL TRAP 1 AVOIDED: CIRCULAR MODELING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Why we exclude Skilled Birth Attendance (SBA) from regression predictors: WHO/UN MMEIG's Bayesian model (BMat) already uses SBA as a mathematical input to estimate MMR in data-poor countries. Regressing MMR on SBA creates circular endogeneity.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4864608"/>
            <a:ext cx="5312664" cy="148132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864608"/>
            <a:ext cx="73152" cy="14813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5010912"/>
            <a:ext cx="4928616" cy="12252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1B365D"/>
                </a:solidFill>
              </a:defRPr>
            </a:pPr>
            <a:r>
              <a:t>METHODOLOGICAL TRAP 2 AVOIDED: SURVEY MISSINGNESS BIAS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Why we exclude sporadic survey indicators (e.g., adult female literacy, &gt;80% missing): Listwise deletion on sparse survey variables drops &gt;85% of low-income country-years, biasing studies toward wealthy 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E2623"/>
                </a:solidFill>
              </a:defRPr>
            </a:pPr>
            <a:r>
              <a:t>STUDY PROTOCOL &amp; ANALYTICAL DESIGN</a:t>
            </a:r>
          </a:p>
          <a:p>
            <a:pPr>
              <a:spcBef>
                <a:spcPts val="200"/>
              </a:spcBef>
              <a:defRPr sz="2250" b="1">
                <a:solidFill>
                  <a:srgbClr val="1B365D"/>
                </a:solidFill>
              </a:defRPr>
            </a:pPr>
            <a:r>
              <a:t>Core Research Questions &amp; Pre-Specified Hypotheses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17352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817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Maternal Mortality Community Research Project (2000–2023)  •  WHO/UN MMEIG 2025 &amp; World Bank WDI  •  Slide 3 of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817352" cy="1572768"/>
          </a:xfrm>
          <a:prstGeom prst="rect">
            <a:avLst/>
          </a:prstGeom>
          <a:solidFill>
            <a:srgbClr val="EEF2FF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109728" cy="15727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26463"/>
            <a:ext cx="1039672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B365D"/>
                </a:solidFill>
              </a:defRPr>
            </a:pPr>
            <a:r>
              <a:t>RESEARCH QUESTION 1: DOMESTIC HEALTH FINANCING PRIORITY (DECOUPLED FROM GDP)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How does national health budget commitment—measured as Current Health Expenditure (% of GDP) decoupled from GDP per capita—correlate with maternal mortality across all income tiers and within resource-constrained Lower-Middle-Income Countries?</a:t>
            </a:r>
          </a:p>
          <a:p>
            <a:pPr>
              <a:defRPr sz="1350" b="1">
                <a:solidFill>
                  <a:srgbClr val="1B365D"/>
                </a:solidFill>
              </a:defRPr>
            </a:pPr>
            <a:r>
              <a:t>▸ Pre-Specified Hypothesis H1: Countries allocating a higher share of GDP to healthcare achieve significantly lower MMR (standalone &amp; within-LMICs), while real GDP per capita acts as the primary longitudinal macro-enabler.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99232"/>
            <a:ext cx="10817352" cy="1572768"/>
          </a:xfrm>
          <a:prstGeom prst="rect">
            <a:avLst/>
          </a:prstGeom>
          <a:solidFill>
            <a:srgbClr val="FEF2F2"/>
          </a:solidFill>
          <a:ln w="12700">
            <a:solidFill>
              <a:srgbClr val="BE2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999232"/>
            <a:ext cx="109728" cy="1572768"/>
          </a:xfrm>
          <a:prstGeom prst="rect">
            <a:avLst/>
          </a:prstGeom>
          <a:solidFill>
            <a:srgbClr val="BE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145536"/>
            <a:ext cx="1039672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BE2623"/>
                </a:solidFill>
              </a:defRPr>
            </a:pPr>
            <a:r>
              <a:t>RESEARCH QUESTION 2: DEMOGRAPHIC TRANSITION &amp; ADOLESCENT OBSTETRIC HAZARDS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What are the distinct epidemiological and clinical relationships between Total Fertility Rate (TFR), Adolescent Fertility Rate (births per 1,000 girls aged 15–19), and national maternal mortality ratios?</a:t>
            </a:r>
          </a:p>
          <a:p>
            <a:pPr>
              <a:defRPr sz="1350" b="1">
                <a:solidFill>
                  <a:srgbClr val="1B365D"/>
                </a:solidFill>
              </a:defRPr>
            </a:pPr>
            <a:r>
              <a:t>▸ Pre-Specified Hypothesis H2: High TFR elevates MMR via grand multiparity (uterine atony/PPH), while teenage pregnancy independently increases MMR even after controlling for national wealth due to cephalopelvic disproportion and eclampsia.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718304"/>
            <a:ext cx="10817352" cy="1572768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718304"/>
            <a:ext cx="109728" cy="15727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864608"/>
            <a:ext cx="1039672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766E"/>
                </a:solidFill>
              </a:defRPr>
            </a:pPr>
            <a:r>
              <a:t>RESEARCH QUESTION 3: WITHIN-COUNTRY LONGITUDINAL DYNAMICS VS CROSS-COUNTRY GAPS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Tracking 177 sovereign countries continuously across 24 years (4,248 country-years), which factors drive year-over-year maternal mortality reductions inside a country after controlling for country and year fixed effects?</a:t>
            </a:r>
          </a:p>
          <a:p>
            <a:pPr>
              <a:defRPr sz="1350" b="1">
                <a:solidFill>
                  <a:srgbClr val="1B365D"/>
                </a:solidFill>
              </a:defRPr>
            </a:pPr>
            <a:r>
              <a:t>▸ Pre-Specified Hypothesis H3: Within-country longitudinal declines are propelled by real economic expansion (conquering Delays 2 &amp; 3) and fertility reduction, and remain strictly invariant across MMEIG's 80% uncertainty bounds.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E2623"/>
                </a:solidFill>
              </a:defRPr>
            </a:pPr>
            <a:r>
              <a:t>PHASE 1 SOURCE VERIFICATION</a:t>
            </a:r>
          </a:p>
          <a:p>
            <a:pPr>
              <a:spcBef>
                <a:spcPts val="200"/>
              </a:spcBef>
              <a:defRPr sz="2250" b="1">
                <a:solidFill>
                  <a:srgbClr val="1B365D"/>
                </a:solidFill>
              </a:defRPr>
            </a:pPr>
            <a:r>
              <a:t>Data Provenance: Authenticated Primary Public-Health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17352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817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Maternal Mortality Community Research Project (2000–2023)  •  WHO/UN MMEIG 2025 &amp; World Bank WDI  •  Slide 4 of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5257800" cy="5074920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5257800" cy="82296"/>
          </a:xfrm>
          <a:prstGeom prst="rect">
            <a:avLst/>
          </a:prstGeom>
          <a:solidFill>
            <a:srgbClr val="BE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4892040" cy="4773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E2623"/>
                </a:solidFill>
              </a:defRPr>
            </a:pPr>
            <a:r>
              <a:t>PRIMARY OUTCOME: WHO / UN MMEIG (2025 ROUND)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</a:defRPr>
            </a:pPr>
            <a:r>
              <a:t>• Official Report: Trends in Maternal Mortality 2000 to 2023 (Geneva: World Health Organization, published April 7, 2025; ISBN 978-92-4-010846-2).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</a:defRPr>
            </a:pPr>
            <a:r>
              <a:t>• 5 UN Agencies: WHO, UNICEF, UNFPA, World Bank Group, and UN DESA Population Division.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</a:defRPr>
            </a:pPr>
            <a:r>
              <a:t>• Bayesian Model: Hierarchical B-spline model (BMis) combining CRVS vital registration, confidential inquiries, censuses, and DHS/MICS surveys.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</a:defRPr>
            </a:pPr>
            <a:r>
              <a:t>• Complete 80% UI: Extracted Median Point Estimate (0.5), 10th Percentile Lower Bound (0.1), and 90th Percentile Upper Bound (0.9) across 195 countries.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</a:defRPr>
            </a:pPr>
            <a:r>
              <a:t>• Verified Case Audit: Myanmar MMR declined from 243.2 (2010) to 184.8 (2023); Thailand MMR declined from 41.0 (2010) to 34.1 (2023).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280160"/>
            <a:ext cx="5257800" cy="5074920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5352" y="1280160"/>
            <a:ext cx="5257800" cy="82296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72184"/>
            <a:ext cx="4892040" cy="4773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365D"/>
                </a:solidFill>
              </a:defRPr>
            </a:pPr>
            <a:r>
              <a:t>EXPLANATORY COVARIATES: WORLD BANK WDI API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</a:defRPr>
            </a:pPr>
            <a:r>
              <a:t>• Real Economic Capacity (NY.GDP.PCAP.PP.KD): GDP per capita, PPP in constant 2021 international dollars (eliminates inflation &amp; exchange-rate distortion; 94.7% coverage).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</a:defRPr>
            </a:pPr>
            <a:r>
              <a:t>• Health Financing Priority (SH.XPD.CHEX.GD.ZS): Current health expenditure as % of GDP from WHO Global Health Expenditure Database (GHED; 94.8% coverage).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</a:defRPr>
            </a:pPr>
            <a:r>
              <a:t>• Total Fertility Rate (SP.DYN.TFRT.IN): Total births per woman from UN DESA World Population Prospects 2024 (100% coverage across 185 WDI countries).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</a:defRPr>
            </a:pPr>
            <a:r>
              <a:t>• Adolescent Fertility (SP.ADO.TFRT): Annual births per 1,000 girls aged 15–19 from UN DESA WPP 2024 (100% coverage).</a:t>
            </a:r>
          </a:p>
          <a:p>
            <a:pPr>
              <a:spcAft>
                <a:spcPts val="800"/>
              </a:spcAft>
              <a:defRPr sz="1350">
                <a:solidFill>
                  <a:srgbClr val="1E293B"/>
                </a:solidFill>
              </a:defRPr>
            </a:pPr>
            <a:r>
              <a:t>• Urbanization Proxy (SP.URB.TOTL.IN.ZS): Urban population (% of total) capturing geographic proximity to referral hospitals (100% coverage).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E2623"/>
                </a:solidFill>
              </a:defRPr>
            </a:pPr>
            <a:r>
              <a:t>PHASE 3B SQL &amp; PYTHON VALIDATION</a:t>
            </a:r>
          </a:p>
          <a:p>
            <a:pPr>
              <a:spcBef>
                <a:spcPts val="200"/>
              </a:spcBef>
              <a:defRPr sz="2250" b="1">
                <a:solidFill>
                  <a:srgbClr val="1B365D"/>
                </a:solidFill>
              </a:defRPr>
            </a:pPr>
            <a:r>
              <a:t>Data Quality &amp; Integrity Audit: 10 Programmatic Rules Verified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17352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817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Maternal Mortality Community Research Project (2000–2023)  •  WHO/UN MMEIG 2025 &amp; World Bank WDI  •  Slide 5 of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80160"/>
          <a:ext cx="10817352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42232"/>
                <a:gridCol w="2926080"/>
                <a:gridCol w="1280160"/>
              </a:tblGrid>
              <a:tr h="624839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Validation Domain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Programmatic Check (SQLite &amp; pytest)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Observed Audit Result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Disposition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365D"/>
                          </a:solidFill>
                        </a:defRPr>
                      </a:pPr>
                      <a:r>
                        <a:t>1. Primary Key Uniqueness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GROUP BY (country_iso3, year) HAVING COUNT(*) &gt;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 duplicate records across 4,680 cells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766E"/>
                          </a:solidFill>
                        </a:defRPr>
                      </a:pPr>
                      <a:r>
                        <a:t>PASS (100%)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365D"/>
                          </a:solidFill>
                        </a:defRPr>
                      </a:pPr>
                      <a:r>
                        <a:t>2. Bayesian UI Ordering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Verify mmr_low (0.1) &lt;= mmr_pt (0.5) &lt;= mmr_high (0.9)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4,680 / 4,680 strictly ordered (0 violations)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766E"/>
                          </a:solidFill>
                        </a:defRPr>
                      </a:pPr>
                      <a:r>
                        <a:t>PASS (100%)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365D"/>
                          </a:solidFill>
                        </a:defRPr>
                      </a:pPr>
                      <a:r>
                        <a:t>3. Domain Plausibility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Check MMR &gt; 0, GDP &gt; 0, 0 &lt; Health Exp % &lt; 100, TFR &gt;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Zero negative or out-of-range anomalies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766E"/>
                          </a:solidFill>
                        </a:defRPr>
                      </a:pPr>
                      <a:r>
                        <a:t>PASS (100%)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365D"/>
                          </a:solidFill>
                        </a:defRPr>
                      </a:pPr>
                      <a:r>
                        <a:t>4. Strict Zero Imputation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Verify zero forward-filling, interpolation, or synthetic rows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100% authentic observed/modeled source values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766E"/>
                          </a:solidFill>
                        </a:defRPr>
                      </a:pPr>
                      <a:r>
                        <a:t>PASS (Rule 4)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365D"/>
                          </a:solidFill>
                        </a:defRPr>
                      </a:pPr>
                      <a:r>
                        <a:t>5. Balanced Panel Integrity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Require 24/24 continuous annual observations (2000–2023)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177 sovereign countries (4,248 country-years)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766E"/>
                          </a:solidFill>
                        </a:defRPr>
                      </a:pPr>
                      <a:r>
                        <a:t>PASS (95.7%)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212080"/>
            <a:ext cx="10817352" cy="1143000"/>
          </a:xfrm>
          <a:prstGeom prst="rect">
            <a:avLst/>
          </a:prstGeom>
          <a:solidFill>
            <a:srgbClr val="EEF2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212080"/>
            <a:ext cx="91440" cy="1143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5358384"/>
            <a:ext cx="10415016" cy="8869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338CA"/>
                </a:solidFill>
              </a:defRPr>
            </a:pPr>
            <a:r>
              <a:t>TRANSPARENT MISSINGNESS AUDIT: WHY 18 OF 195 COUNTRIES LACK COMPLETE 24-YEAR WDI SERIES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4 jurisdictions (Cook Islands, Cuba, Monaco, Puerto Rico) lack full WDI PPP series, 10 conflict/disrupted states (Afghanistan, Eritrea, Iraq, DPRK, Somalia, South Sudan, Syria, Ukraine, Venezuela, Yemen), and 4 early-decade gap states (Djibouti, Montenegro, Timor-Leste, Zimbabwe). Per Rule 4, we never fabricate or interpolate missing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E2623"/>
                </a:solidFill>
              </a:defRPr>
            </a:pPr>
            <a:r>
              <a:t>EMPIRICAL FINDINGS • GLOBAL EQUITY</a:t>
            </a:r>
          </a:p>
          <a:p>
            <a:pPr>
              <a:spcBef>
                <a:spcPts val="200"/>
              </a:spcBef>
              <a:defRPr sz="2250" b="1">
                <a:solidFill>
                  <a:srgbClr val="1B365D"/>
                </a:solidFill>
              </a:defRPr>
            </a:pPr>
            <a:r>
              <a:t>Descriptive Trajectories: The 19-Fold Mean (46-Fold Median) Income Chasm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17352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817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Maternal Mortality Community Research Project (2000–2023)  •  WHO/UN MMEIG 2025 &amp; World Bank WDI  •  Slide 6 of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4663440" cy="157276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82296" cy="15727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3"/>
            <a:ext cx="427024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0F766E"/>
                </a:solidFill>
              </a:defRPr>
            </a:pPr>
            <a:r>
              <a:t>GLOBAL PROGRESS (2000–2023)</a:t>
            </a:r>
          </a:p>
          <a:p>
            <a:pPr>
              <a:spcAft>
                <a:spcPts val="400"/>
              </a:spcAft>
              <a:defRPr sz="1700" b="1">
                <a:solidFill>
                  <a:srgbClr val="1B365D"/>
                </a:solidFill>
              </a:defRPr>
            </a:pPr>
            <a:r>
              <a:t>-49.7% Decline in Mean MMR</a:t>
            </a:r>
          </a:p>
          <a:p>
            <a:pPr>
              <a:defRPr sz="1280">
                <a:solidFill>
                  <a:srgbClr val="1E293B"/>
                </a:solidFill>
              </a:defRPr>
            </a:pPr>
            <a:r>
              <a:t>Global mean national MMR dropped from 217.7 (2000) to 109.6 (2023) per 100k live births; global median MMR fell from 67.6 to 42.1.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99232"/>
            <a:ext cx="4663440" cy="157276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999232"/>
            <a:ext cx="82296" cy="1572768"/>
          </a:xfrm>
          <a:prstGeom prst="rect">
            <a:avLst/>
          </a:prstGeom>
          <a:solidFill>
            <a:srgbClr val="BE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45536"/>
            <a:ext cx="427024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BE2623"/>
                </a:solidFill>
              </a:defRPr>
            </a:pPr>
            <a:r>
              <a:t>THE 19-FOLD MEAN (46x MEDIAN) DIVIDE</a:t>
            </a:r>
          </a:p>
          <a:p>
            <a:pPr>
              <a:spcAft>
                <a:spcPts val="400"/>
              </a:spcAft>
              <a:defRPr sz="1700" b="1">
                <a:solidFill>
                  <a:srgbClr val="1B365D"/>
                </a:solidFill>
              </a:defRPr>
            </a:pPr>
            <a:r>
              <a:t>370.1 (LIC) vs 19.5 (HIC)</a:t>
            </a:r>
          </a:p>
          <a:p>
            <a:pPr>
              <a:defRPr sz="1280">
                <a:solidFill>
                  <a:srgbClr val="1E293B"/>
                </a:solidFill>
              </a:defRPr>
            </a:pPr>
            <a:r>
              <a:t>In 2023 (balanced panel, n=177), Low-Income Countries average 370.1 deaths per 100k (median 354.0), compared to 19.5 in High-Income Countries (median 7.7).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718304"/>
            <a:ext cx="4663440" cy="157276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718304"/>
            <a:ext cx="82296" cy="15727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64608"/>
            <a:ext cx="427024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1B365D"/>
                </a:solidFill>
              </a:defRPr>
            </a:pPr>
            <a:r>
              <a:t>POST-2015 SDG DECELERATION</a:t>
            </a:r>
          </a:p>
          <a:p>
            <a:pPr>
              <a:spcAft>
                <a:spcPts val="400"/>
              </a:spcAft>
              <a:defRPr sz="1700" b="1">
                <a:solidFill>
                  <a:srgbClr val="1B365D"/>
                </a:solidFill>
              </a:defRPr>
            </a:pPr>
            <a:r>
              <a:t>Stagnation &amp; COVID-19 Shock</a:t>
            </a:r>
          </a:p>
          <a:p>
            <a:pPr>
              <a:defRPr sz="1280">
                <a:solidFill>
                  <a:srgbClr val="1E293B"/>
                </a:solidFill>
              </a:defRPr>
            </a:pPr>
            <a:r>
              <a:t>Mortality reduction slowed after the 2015 MDG-to-SDG transition, with temporary reversals during the 2020–2022 COVID-19 pandemic.</a:t>
            </a:r>
          </a:p>
        </p:txBody>
      </p:sp>
      <p:pic>
        <p:nvPicPr>
          <p:cNvPr id="14" name="Picture 13" descr="fig1_mmr_trends_by_in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98448"/>
            <a:ext cx="5989320" cy="42277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E2623"/>
                </a:solidFill>
              </a:defRPr>
            </a:pPr>
            <a:r>
              <a:t>EMPIRICAL FINDINGS • REAL ECONOMIC OUTPUT</a:t>
            </a:r>
          </a:p>
          <a:p>
            <a:pPr>
              <a:spcBef>
                <a:spcPts val="200"/>
              </a:spcBef>
              <a:defRPr sz="2250" b="1">
                <a:solidFill>
                  <a:srgbClr val="1B365D"/>
                </a:solidFill>
              </a:defRPr>
            </a:pPr>
            <a:r>
              <a:t>Macroeconomic Capacity: The Preston Curve of Maternal Survival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17352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817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Maternal Mortality Community Research Project (2000–2023)  •  WHO/UN MMEIG 2025 &amp; World Bank WDI  •  Slide 7 of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4663440" cy="157276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82296" cy="15727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3"/>
            <a:ext cx="427024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1B365D"/>
                </a:solidFill>
              </a:defRPr>
            </a:pPr>
            <a:r>
              <a:t>MASSIVE PROTECTIVE CORRELATION</a:t>
            </a:r>
          </a:p>
          <a:p>
            <a:pPr>
              <a:spcAft>
                <a:spcPts val="400"/>
              </a:spcAft>
              <a:defRPr sz="1700" b="1">
                <a:solidFill>
                  <a:srgbClr val="1B365D"/>
                </a:solidFill>
              </a:defRPr>
            </a:pPr>
            <a:r>
              <a:t>Spearman rho = -0.85 (p &lt; 0.001)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Real GDP per capita (constant 2021 PPP $) exhibits a massive inverse relationship with maternal mortality across all 177 balanced countries (rho = -0.84 across 24 years).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99232"/>
            <a:ext cx="4663440" cy="157276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999232"/>
            <a:ext cx="82296" cy="15727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45536"/>
            <a:ext cx="427024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0F766E"/>
                </a:solidFill>
              </a:defRPr>
            </a:pPr>
            <a:r>
              <a:t>NON-LINEAR DIMINISHING RETURNS</a:t>
            </a:r>
          </a:p>
          <a:p>
            <a:pPr>
              <a:spcAft>
                <a:spcPts val="400"/>
              </a:spcAft>
              <a:defRPr sz="1700" b="1">
                <a:solidFill>
                  <a:srgbClr val="1B365D"/>
                </a:solidFill>
              </a:defRPr>
            </a:pPr>
            <a:r>
              <a:t>Steep Drop Below $15,000 PPP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Moving from $1,500 to $15,000 PPP slashes MMR from &gt;500 to &lt;50. Above $20,000 PPP, survival plateaus as basic infrastructure saturates.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718304"/>
            <a:ext cx="4663440" cy="157276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718304"/>
            <a:ext cx="82296" cy="1572768"/>
          </a:xfrm>
          <a:prstGeom prst="rect">
            <a:avLst/>
          </a:prstGeom>
          <a:solidFill>
            <a:srgbClr val="BE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64608"/>
            <a:ext cx="427024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BE2623"/>
                </a:solidFill>
              </a:defRPr>
            </a:pPr>
            <a:r>
              <a:t>REGIONAL CASE CONTRAST (2023)</a:t>
            </a:r>
          </a:p>
          <a:p>
            <a:pPr>
              <a:spcAft>
                <a:spcPts val="400"/>
              </a:spcAft>
              <a:defRPr sz="1700" b="1">
                <a:solidFill>
                  <a:srgbClr val="1B365D"/>
                </a:solidFill>
              </a:defRPr>
            </a:pPr>
            <a:r>
              <a:t>Myanmar (185) vs Thailand (34)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Myanmar ($5,364 PPP, MMR 185) vs Thailand ($21,245 PPP, MMR 34) illustrates the 5.4-fold survival gain of upper-middle-income capacity.</a:t>
            </a:r>
          </a:p>
        </p:txBody>
      </p:sp>
      <p:pic>
        <p:nvPicPr>
          <p:cNvPr id="14" name="Picture 13" descr="fig2_preston_curve_maternal_mort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98448"/>
            <a:ext cx="5989320" cy="42277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E2623"/>
                </a:solidFill>
              </a:defRPr>
            </a:pPr>
            <a:r>
              <a:t>DEMOGRAPHIC &amp; CLINICAL MECHANISMS • PART 1</a:t>
            </a:r>
          </a:p>
          <a:p>
            <a:pPr>
              <a:spcBef>
                <a:spcPts val="200"/>
              </a:spcBef>
              <a:defRPr sz="2250" b="1">
                <a:solidFill>
                  <a:srgbClr val="1B365D"/>
                </a:solidFill>
              </a:defRPr>
            </a:pPr>
            <a:r>
              <a:t>Demographic Transition: Total Fertility Rate (TFR) vs Maternal Mortality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17352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817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Maternal Mortality Community Research Project (2000–2023)  •  WHO/UN MMEIG 2025 &amp; World Bank WDI  •  Slide 8 of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4663440" cy="157276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82296" cy="1572768"/>
          </a:xfrm>
          <a:prstGeom prst="rect">
            <a:avLst/>
          </a:prstGeom>
          <a:solidFill>
            <a:srgbClr val="BE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3"/>
            <a:ext cx="427024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BE2623"/>
                </a:solidFill>
              </a:defRPr>
            </a:pPr>
            <a:r>
              <a:t>EMPIRICAL CORRELATION &amp; PANEL EFFECT</a:t>
            </a:r>
          </a:p>
          <a:p>
            <a:pPr>
              <a:spcAft>
                <a:spcPts val="400"/>
              </a:spcAft>
              <a:defRPr sz="1650" b="1">
                <a:solidFill>
                  <a:srgbClr val="1B365D"/>
                </a:solidFill>
              </a:defRPr>
            </a:pPr>
            <a:r>
              <a:t>rho = +0.82 Panel | -12.3% MMR / Child</a:t>
            </a:r>
          </a:p>
          <a:p>
            <a:pPr>
              <a:defRPr sz="1280">
                <a:solidFill>
                  <a:srgbClr val="1E293B"/>
                </a:solidFill>
              </a:defRPr>
            </a:pPr>
            <a:r>
              <a:t>TFR strongly tracks MMR across countries (rho = +0.79 in 2023, p &lt; 0.001). Within a country over time, each 1-child drop in TFR reduces MMR by 12.3% (p = 0.032).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99232"/>
            <a:ext cx="4663440" cy="157276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999232"/>
            <a:ext cx="82296" cy="15727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45536"/>
            <a:ext cx="427024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B365D"/>
                </a:solidFill>
              </a:defRPr>
            </a:pPr>
            <a:r>
              <a:t>CLINICAL MECHANISM 1: GRAND MULTIPARITY</a:t>
            </a:r>
          </a:p>
          <a:p>
            <a:pPr>
              <a:spcAft>
                <a:spcPts val="400"/>
              </a:spcAft>
              <a:defRPr sz="1650" b="1">
                <a:solidFill>
                  <a:srgbClr val="1B365D"/>
                </a:solidFill>
              </a:defRPr>
            </a:pPr>
            <a:r>
              <a:t>Uterine Atony &amp; Postpartum Hemorrhage</a:t>
            </a:r>
          </a:p>
          <a:p>
            <a:pPr>
              <a:defRPr sz="1280">
                <a:solidFill>
                  <a:srgbClr val="1E293B"/>
                </a:solidFill>
              </a:defRPr>
            </a:pPr>
            <a:r>
              <a:t>High national TFR means many women undergo &gt;= 5 deliveries. Grand multiparity causes myometrial exhaustion and uterine atony—the #1 cause of fatal PPH and uterine rupture.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718304"/>
            <a:ext cx="4663440" cy="157276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718304"/>
            <a:ext cx="82296" cy="15727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64608"/>
            <a:ext cx="427024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CLINICAL MECHANISM 2: MATERNAL DEPLETION</a:t>
            </a:r>
          </a:p>
          <a:p>
            <a:pPr>
              <a:spcAft>
                <a:spcPts val="400"/>
              </a:spcAft>
              <a:defRPr sz="1650" b="1">
                <a:solidFill>
                  <a:srgbClr val="1B365D"/>
                </a:solidFill>
              </a:defRPr>
            </a:pPr>
            <a:r>
              <a:t>Short Birth Spacing &amp; Severe Anemia</a:t>
            </a:r>
          </a:p>
          <a:p>
            <a:pPr>
              <a:defRPr sz="1280">
                <a:solidFill>
                  <a:srgbClr val="1E293B"/>
                </a:solidFill>
              </a:defRPr>
            </a:pPr>
            <a:r>
              <a:t>Closely spaced pregnancies prevent iron and folate recovery, inducing chronic gestational anemia where even moderate delivery blood loss triggers fatal shock.</a:t>
            </a:r>
          </a:p>
        </p:txBody>
      </p:sp>
      <p:pic>
        <p:nvPicPr>
          <p:cNvPr id="14" name="Picture 13" descr="fig6a_tfr_vs_mm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98448"/>
            <a:ext cx="5989320" cy="42363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E2623"/>
                </a:solidFill>
              </a:defRPr>
            </a:pPr>
            <a:r>
              <a:t>DEMOGRAPHIC &amp; CLINICAL MECHANISMS • PART 2</a:t>
            </a:r>
          </a:p>
          <a:p>
            <a:pPr>
              <a:spcBef>
                <a:spcPts val="200"/>
              </a:spcBef>
              <a:defRPr sz="2250" b="1">
                <a:solidFill>
                  <a:srgbClr val="1B365D"/>
                </a:solidFill>
              </a:defRPr>
            </a:pPr>
            <a:r>
              <a:t>Teenage Pregnancy: Adolescent Fertility (Ages 15–19) vs Maternal Mortality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17352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817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Maternal Mortality Community Research Project (2000–2023)  •  WHO/UN MMEIG 2025 &amp; World Bank WDI  •  Slide 9 of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4663440" cy="157276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82296" cy="1572768"/>
          </a:xfrm>
          <a:prstGeom prst="rect">
            <a:avLst/>
          </a:prstGeom>
          <a:solidFill>
            <a:srgbClr val="BE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3"/>
            <a:ext cx="427024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BE2623"/>
                </a:solidFill>
              </a:defRPr>
            </a:pPr>
            <a:r>
              <a:t>INDEPENDENT MULTIVARIABLE PREDICTOR</a:t>
            </a:r>
          </a:p>
          <a:p>
            <a:pPr>
              <a:spcAft>
                <a:spcPts val="400"/>
              </a:spcAft>
              <a:defRPr sz="1650" b="1">
                <a:solidFill>
                  <a:srgbClr val="1B365D"/>
                </a:solidFill>
              </a:defRPr>
            </a:pPr>
            <a:r>
              <a:t>rho = +0.86 (2023) | +15.1% MMR / 10 Births</a:t>
            </a:r>
          </a:p>
          <a:p>
            <a:pPr>
              <a:defRPr sz="1280">
                <a:solidFill>
                  <a:srgbClr val="1E293B"/>
                </a:solidFill>
              </a:defRPr>
            </a:pPr>
            <a:r>
              <a:t>Even after controlling for GDP and adult TFR in 2023 OLS, each +10 adolescent births per 1,000 girls increases national MMR by ~15.1% (beta = +0.0141, p &lt; 0.001).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99232"/>
            <a:ext cx="4663440" cy="157276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999232"/>
            <a:ext cx="82296" cy="15727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45536"/>
            <a:ext cx="427024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B365D"/>
                </a:solidFill>
              </a:defRPr>
            </a:pPr>
            <a:r>
              <a:t>BIOLOGICAL HAZARD: PELVIC IMMATURITY</a:t>
            </a:r>
          </a:p>
          <a:p>
            <a:pPr>
              <a:spcAft>
                <a:spcPts val="400"/>
              </a:spcAft>
              <a:defRPr sz="1650" b="1">
                <a:solidFill>
                  <a:srgbClr val="1B365D"/>
                </a:solidFill>
              </a:defRPr>
            </a:pPr>
            <a:r>
              <a:t>Cephalopelvic Disproportion &amp; Eclampsia</a:t>
            </a:r>
          </a:p>
          <a:p>
            <a:pPr>
              <a:defRPr sz="1280">
                <a:solidFill>
                  <a:srgbClr val="1E293B"/>
                </a:solidFill>
              </a:defRPr>
            </a:pPr>
            <a:r>
              <a:t>Adolescent girls have incompletely ossified pelvic canals, causing cephalopelvic disproportion (CPD), obstructed labor, uterine rupture, fistula, and eclampsia.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718304"/>
            <a:ext cx="4663440" cy="157276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718304"/>
            <a:ext cx="82296" cy="15727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64608"/>
            <a:ext cx="427024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SOCIAL HAZARD &amp; REGIONAL CONTRAST</a:t>
            </a:r>
          </a:p>
          <a:p>
            <a:pPr>
              <a:spcAft>
                <a:spcPts val="400"/>
              </a:spcAft>
              <a:defRPr sz="1650" b="1">
                <a:solidFill>
                  <a:srgbClr val="1B365D"/>
                </a:solidFill>
              </a:defRPr>
            </a:pPr>
            <a:r>
              <a:t>Delay 1 Stigma • Myanmar vs Thailand</a:t>
            </a:r>
          </a:p>
          <a:p>
            <a:pPr>
              <a:defRPr sz="1280">
                <a:solidFill>
                  <a:srgbClr val="1E293B"/>
                </a:solidFill>
              </a:defRPr>
            </a:pPr>
            <a:r>
              <a:t>Teenage mothers face acute stigma and financial dependence (Delay 1). Contrast: Myanmar (AdoFert 33.5, MMR 185) vs Thailand (AdoFert 26.1, MMR 34).</a:t>
            </a:r>
          </a:p>
        </p:txBody>
      </p:sp>
      <p:pic>
        <p:nvPicPr>
          <p:cNvPr id="14" name="Picture 13" descr="fig6b_adolescent_fert_vs_mm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98448"/>
            <a:ext cx="5989320" cy="42363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E2623"/>
                </a:solidFill>
              </a:defRPr>
            </a:pPr>
            <a:r>
              <a:t>HEALTH POLICY COMMITMENT VS ECONOMIC SIZE</a:t>
            </a:r>
          </a:p>
          <a:p>
            <a:pPr>
              <a:spcBef>
                <a:spcPts val="200"/>
              </a:spcBef>
              <a:defRPr sz="2250" b="1">
                <a:solidFill>
                  <a:srgbClr val="1B365D"/>
                </a:solidFill>
              </a:defRPr>
            </a:pPr>
            <a:r>
              <a:t>Domestic Health Financing Priority: Spending (% of GDP) Decoupled from GDP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17352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817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Maternal Mortality Community Research Project (2000–2023)  •  WHO/UN MMEIG 2025 &amp; World Bank WDI  •  Slide 10 of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3465576" cy="1353312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3465576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3099815" cy="10789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220" b="1">
                <a:solidFill>
                  <a:srgbClr val="1B365D"/>
                </a:solidFill>
              </a:defRPr>
            </a:pPr>
            <a:r>
              <a:t>1. CAPACITY VS COMMITMENT  •  rho = -0.40 Panel (-0.39 in 2023)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GDP per capita measures economic capacity; Health Exp (% of GDP) measures political priority for healthcare.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234440"/>
            <a:ext cx="3465576" cy="1353312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1688" y="1234440"/>
            <a:ext cx="3465576" cy="54864"/>
          </a:xfrm>
          <a:prstGeom prst="rect">
            <a:avLst/>
          </a:prstGeom>
          <a:solidFill>
            <a:srgbClr val="BE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5" y="1399032"/>
            <a:ext cx="3099815" cy="10789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220" b="1">
                <a:solidFill>
                  <a:srgbClr val="BE2623"/>
                </a:solidFill>
              </a:defRPr>
            </a:pPr>
            <a:r>
              <a:t>2. 13-FOLD QUARTILE GRADIENT  •  Q1: 170.3 vs Q4: 13.4 MMR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Low-priority nations (&lt;4.4% GDP) suffer a median MMR of 170.3 vs 13.4 in high-priority nations (&gt;8.5% GDP).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7575" y="1234440"/>
            <a:ext cx="3465576" cy="1353312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37575" y="1234440"/>
            <a:ext cx="3465576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399032"/>
            <a:ext cx="3099815" cy="10789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220" b="1">
                <a:solidFill>
                  <a:srgbClr val="0F766E"/>
                </a:solidFill>
              </a:defRPr>
            </a:pPr>
            <a:r>
              <a:t>3. PROOF WITHIN LMIC PEERS  •  Within-LMIC rho = -0.43 (p = 0.004)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Among 43 Lower-Middle-Income nations with similar GDP, higher health % of GDP significantly lowers MMR.</a:t>
            </a:r>
          </a:p>
        </p:txBody>
      </p:sp>
      <p:pic>
        <p:nvPicPr>
          <p:cNvPr id="14" name="Picture 13" descr="fig7_health_exp_vs_mm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70048"/>
            <a:ext cx="10634472" cy="37811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E2623"/>
                </a:solidFill>
              </a:defRPr>
            </a:pPr>
            <a:r>
              <a:t>PRIMARY ECONOMETRIC MODEL • TWO-WAY FIXED EFFECTS (N = 4,248)</a:t>
            </a:r>
          </a:p>
          <a:p>
            <a:pPr>
              <a:spcBef>
                <a:spcPts val="200"/>
              </a:spcBef>
              <a:defRPr sz="2250" b="1">
                <a:solidFill>
                  <a:srgbClr val="1B365D"/>
                </a:solidFill>
              </a:defRPr>
            </a:pPr>
            <a:r>
              <a:t>Longitudinal Panel Evidence: What Drives Survival Inside a Country Over Time?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17352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817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Maternal Mortality Community Research Project (2000–2023)  •  WHO/UN MMEIG 2025 &amp; World Bank WDI  •  Slide 11 of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3465576" cy="3337560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61872"/>
            <a:ext cx="3465576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44751"/>
            <a:ext cx="3099815" cy="3044951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1B365D"/>
                </a:solidFill>
              </a:defRPr>
            </a:pPr>
            <a:r>
              <a:t>PILLAR 1: ECONOMIC CAPACITY</a:t>
            </a:r>
          </a:p>
          <a:p>
            <a:pPr>
              <a:spcAft>
                <a:spcPts val="400"/>
              </a:spcAft>
              <a:defRPr sz="2000" b="1">
                <a:solidFill>
                  <a:srgbClr val="1B365D"/>
                </a:solidFill>
              </a:defRPr>
            </a:pPr>
            <a:r>
              <a:t>-29.0% MMR Reduction</a:t>
            </a:r>
          </a:p>
          <a:p>
            <a:pPr>
              <a:spcAft>
                <a:spcPts val="1000"/>
              </a:spcAft>
              <a:defRPr sz="1200" b="1">
                <a:solidFill>
                  <a:srgbClr val="475569"/>
                </a:solidFill>
              </a:defRPr>
            </a:pPr>
            <a:r>
              <a:t>Per Doubling of Real GDP per Capita</a:t>
            </a:r>
            <a:br/>
            <a:r>
              <a:t>(TWFE beta = -0.4959, p &lt; 0.001)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Clinical Translation:</a:t>
            </a:r>
            <a:br/>
            <a:r>
              <a:t>When a country's economy grows over time, it builds the physical enablers that resolve Delays 2 &amp; 3: paved rural roads, ambulance fleets, 24/7 hospital electricity, and regional blood banks.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261872"/>
            <a:ext cx="3465576" cy="3337560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1688" y="1261872"/>
            <a:ext cx="3465576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5" y="1444751"/>
            <a:ext cx="3099815" cy="3044951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766E"/>
                </a:solidFill>
              </a:defRPr>
            </a:pPr>
            <a:r>
              <a:t>PILLAR 2: FERTILITY TRANSITION</a:t>
            </a:r>
          </a:p>
          <a:p>
            <a:pPr>
              <a:spcAft>
                <a:spcPts val="400"/>
              </a:spcAft>
              <a:defRPr sz="2000" b="1">
                <a:solidFill>
                  <a:srgbClr val="1B365D"/>
                </a:solidFill>
              </a:defRPr>
            </a:pPr>
            <a:r>
              <a:t>-12.3% MMR Reduction</a:t>
            </a:r>
          </a:p>
          <a:p>
            <a:pPr>
              <a:spcAft>
                <a:spcPts val="1000"/>
              </a:spcAft>
              <a:defRPr sz="1200" b="1">
                <a:solidFill>
                  <a:srgbClr val="475569"/>
                </a:solidFill>
              </a:defRPr>
            </a:pPr>
            <a:r>
              <a:t>Per 1-Child Drop in Total Fertility (TFR)</a:t>
            </a:r>
            <a:br/>
            <a:r>
              <a:t>(TWFE beta = +0.1308, p = 0.032)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Clinical Translation:</a:t>
            </a:r>
            <a:br/>
            <a:r>
              <a:t>As women within a country have fewer total pregnancies over time, high-risk grand multiparity (parities &gt;= 5) drops sharply, preventing uterine atony hemorrhage and maternal anemia.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7575" y="1261872"/>
            <a:ext cx="3465576" cy="3337560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37575" y="1261872"/>
            <a:ext cx="3465576" cy="73152"/>
          </a:xfrm>
          <a:prstGeom prst="rect">
            <a:avLst/>
          </a:prstGeom>
          <a:solidFill>
            <a:srgbClr val="BE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444751"/>
            <a:ext cx="3099815" cy="3044951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BE2623"/>
                </a:solidFill>
              </a:defRPr>
            </a:pPr>
            <a:r>
              <a:t>PILLAR 3: PANEL VS CROSS-SECTION</a:t>
            </a:r>
          </a:p>
          <a:p>
            <a:pPr>
              <a:spcAft>
                <a:spcPts val="400"/>
              </a:spcAft>
              <a:defRPr sz="2000" b="1">
                <a:solidFill>
                  <a:srgbClr val="1B365D"/>
                </a:solidFill>
              </a:defRPr>
            </a:pPr>
            <a:r>
              <a:t>Structural vs Annual Shifts</a:t>
            </a:r>
          </a:p>
          <a:p>
            <a:pPr>
              <a:spcAft>
                <a:spcPts val="1000"/>
              </a:spcAft>
              <a:defRPr sz="1200" b="1">
                <a:solidFill>
                  <a:srgbClr val="475569"/>
                </a:solidFill>
              </a:defRPr>
            </a:pPr>
            <a:r>
              <a:t>Why Do Fixed Effects &amp; OLS Differ?</a:t>
            </a:r>
            <a:br/>
            <a:r>
              <a:t>(Between-Country vs Within-Country)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Clinical Translation:</a:t>
            </a:r>
            <a:br/>
            <a:r>
              <a:t>Teenage pregnancy (rho = +0.86) and health budgets (rho = -0.40) are massive structural dividers across countries. Fixed effects absorb baseline gaps and isolate year-to-year changes.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773168"/>
            <a:ext cx="10817352" cy="1572768"/>
          </a:xfrm>
          <a:prstGeom prst="rect">
            <a:avLst/>
          </a:prstGeom>
          <a:solidFill>
            <a:srgbClr val="EEF2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773168"/>
            <a:ext cx="109728" cy="15727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919472"/>
            <a:ext cx="1039672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4338CA"/>
                </a:solidFill>
              </a:defRPr>
            </a:pPr>
            <a:r>
              <a:t>DOCTOR'S INTERVIEW &amp; RESEARCH DEFENSE GUIDE (HOW TO EXPLAIN THIS SIMPLY):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"Our 24-year panel of 177 countries shows two complementary truths: (1) Within a country over time, maternal deaths are driven down by economic growth (-29% MMR per GDP doubling, which funds roads, power, and surgical centers) and fertility reduction (-12.3% MMR per child drop, which prevents uterine atony). (2) Across countries, teenage pregnancy (rho = +0.86) and health budget priority (rho = -0.40) remain powerful structural determinants of maternal survival."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E2623"/>
                </a:solidFill>
              </a:defRPr>
            </a:pPr>
            <a:r>
              <a:t>ROBUSTNESS &amp; EXTREME-BOUND TESTING</a:t>
            </a:r>
          </a:p>
          <a:p>
            <a:pPr>
              <a:spcBef>
                <a:spcPts val="200"/>
              </a:spcBef>
              <a:defRPr sz="2250" b="1">
                <a:solidFill>
                  <a:srgbClr val="1B365D"/>
                </a:solidFill>
              </a:defRPr>
            </a:pPr>
            <a:r>
              <a:t>Sensitivity Analyses: Invariance to MMEIG 80% Uncertainty Bounds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17352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817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Maternal Mortality Community Research Project (2000–2023)  •  WHO/UN MMEIG 2025 &amp; World Bank WDI  •  Slide 12 of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4663440" cy="157276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82296" cy="15727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26463"/>
            <a:ext cx="427024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1B365D"/>
                </a:solidFill>
              </a:defRPr>
            </a:pPr>
            <a:r>
              <a:t>80% UNCERTAINTY BOUND INVARIANCE</a:t>
            </a:r>
          </a:p>
          <a:p>
            <a:pPr>
              <a:spcAft>
                <a:spcPts val="400"/>
              </a:spcAft>
              <a:defRPr sz="1650" b="1">
                <a:solidFill>
                  <a:srgbClr val="1B365D"/>
                </a:solidFill>
              </a:defRPr>
            </a:pPr>
            <a:r>
              <a:t>10th (-0.491) vs 90th (-0.498)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Re-estimating our TWFE panel model on MMEIG's 10th percentile lower bound and 90th percentile upper bound produces virtually identical coefficients.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99232"/>
            <a:ext cx="4663440" cy="157276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999232"/>
            <a:ext cx="82296" cy="15727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45536"/>
            <a:ext cx="427024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0F766E"/>
                </a:solidFill>
              </a:defRPr>
            </a:pPr>
            <a:r>
              <a:t>PRE-PANDEMIC STABILITY (2000–2019)</a:t>
            </a:r>
          </a:p>
          <a:p>
            <a:pPr>
              <a:spcAft>
                <a:spcPts val="400"/>
              </a:spcAft>
              <a:defRPr sz="1650" b="1">
                <a:solidFill>
                  <a:srgbClr val="1B365D"/>
                </a:solidFill>
              </a:defRPr>
            </a:pPr>
            <a:r>
              <a:t>Pre-COVID beta = -0.5265 (p &lt; 0.001)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Restricting the panel to the 20 pre-pandemic years (n = 3,540) confirms that findings are not artifacts of COVID-19 mortality spikes.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718304"/>
            <a:ext cx="4663440" cy="1572768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718304"/>
            <a:ext cx="82296" cy="1572768"/>
          </a:xfrm>
          <a:prstGeom prst="rect">
            <a:avLst/>
          </a:prstGeom>
          <a:solidFill>
            <a:srgbClr val="BE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64608"/>
            <a:ext cx="427024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BE2623"/>
                </a:solidFill>
              </a:defRPr>
            </a:pPr>
            <a:r>
              <a:t>BALANCED VS UNBALANCED SAMPLE</a:t>
            </a:r>
          </a:p>
          <a:p>
            <a:pPr>
              <a:spcAft>
                <a:spcPts val="400"/>
              </a:spcAft>
              <a:defRPr sz="1650" b="1">
                <a:solidFill>
                  <a:srgbClr val="1B365D"/>
                </a:solidFill>
              </a:defRPr>
            </a:pPr>
            <a:r>
              <a:t>4,248 vs 4,406 Country-Years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Including the conflict-affected countries with partial series yields identical directions and significance levels across all covariates.</a:t>
            </a:r>
          </a:p>
        </p:txBody>
      </p:sp>
      <p:pic>
        <p:nvPicPr>
          <p:cNvPr id="14" name="Picture 13" descr="fig5_uncertainty_forest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98448"/>
            <a:ext cx="5989320" cy="40868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E2623"/>
                </a:solidFill>
              </a:defRPr>
            </a:pPr>
            <a:r>
              <a:t>STRATIFIED SUBGROUP ANALYSIS (2000–2023)</a:t>
            </a:r>
          </a:p>
          <a:p>
            <a:pPr>
              <a:spcBef>
                <a:spcPts val="200"/>
              </a:spcBef>
              <a:defRPr sz="2250" b="1">
                <a:solidFill>
                  <a:srgbClr val="1B365D"/>
                </a:solidFill>
              </a:defRPr>
            </a:pPr>
            <a:r>
              <a:t>Income Tier Heterogeneity: Diminishing Returns &amp; Adolescent Concentration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17352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817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Maternal Mortality Community Research Project (2000–2023)  •  WHO/UN MMEIG 2025 &amp; World Bank WDI  •  Slide 13 of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3465576" cy="1353312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3465576" cy="54864"/>
          </a:xfrm>
          <a:prstGeom prst="rect">
            <a:avLst/>
          </a:prstGeom>
          <a:solidFill>
            <a:srgbClr val="BE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3099815" cy="10789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BE2623"/>
                </a:solidFill>
              </a:defRPr>
            </a:pPr>
            <a:r>
              <a:t>1. STEEPEST GAINS IN LICs &amp; LMICs  •  Median MMR: 526.0 (LIC) vs 239.6 (LMIC)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Marginal investments in roads, blood banks, and health budgets yield their largest absolute survival gains in low-resource tiers.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234440"/>
            <a:ext cx="3465576" cy="1353312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1688" y="1234440"/>
            <a:ext cx="3465576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5" y="1399032"/>
            <a:ext cx="3099815" cy="10789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B365D"/>
                </a:solidFill>
              </a:defRPr>
            </a:pPr>
            <a:r>
              <a:t>2. HIGH-INCOME SYSTEMIC PLATEAU  •  Median MMR: 9.8 Deaths / 100k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High-income nations operate on a resilient plateau where baseline emergency obstetric infrastructure is universally guaranteed.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7575" y="1234440"/>
            <a:ext cx="3465576" cy="1353312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37575" y="1234440"/>
            <a:ext cx="3465576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399032"/>
            <a:ext cx="3099815" cy="10789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766E"/>
                </a:solidFill>
              </a:defRPr>
            </a:pPr>
            <a:r>
              <a:t>3. 10-FOLD ADOLESCENT BURDEN GAP  •  128.9 (LIC) vs 13.1 (HIC) Births / 1k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Panel median adolescent fertility is 10x higher in low-income nations (106.9 vs 6.4 in 2023), concentrating risk among the poorest.</a:t>
            </a:r>
          </a:p>
        </p:txBody>
      </p:sp>
      <p:pic>
        <p:nvPicPr>
          <p:cNvPr id="14" name="Picture 13" descr="fig4_income_heterogeneity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70048"/>
            <a:ext cx="10634472" cy="37811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E2623"/>
                </a:solidFill>
              </a:defRPr>
            </a:pPr>
            <a:r>
              <a:t>INTEGRATED CLINICAL INTERPRETATION</a:t>
            </a:r>
          </a:p>
          <a:p>
            <a:pPr>
              <a:spcBef>
                <a:spcPts val="200"/>
              </a:spcBef>
              <a:defRPr sz="2250" b="1">
                <a:solidFill>
                  <a:srgbClr val="1B365D"/>
                </a:solidFill>
              </a:defRPr>
            </a:pPr>
            <a:r>
              <a:t>Clinical &amp; Public-Health Synthesis: Bridging Data to Bedside Obstetrics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17352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817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Maternal Mortality Community Research Project (2000–2023)  •  WHO/UN MMEIG 2025 &amp; World Bank WDI  •  Slide 14 of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817352" cy="1572768"/>
          </a:xfrm>
          <a:prstGeom prst="rect">
            <a:avLst/>
          </a:prstGeom>
          <a:solidFill>
            <a:srgbClr val="EEF2FF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109728" cy="157276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26463"/>
            <a:ext cx="1039672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B365D"/>
                </a:solidFill>
              </a:defRPr>
            </a:pPr>
            <a:r>
              <a:t>1. WHY MACROECONOMIC CAPACITY PROTECTS MOTHERS (RESOLVING DELAYS 2 &amp; 3)</a:t>
            </a:r>
          </a:p>
          <a:p>
            <a:pPr>
              <a:defRPr sz="1380">
                <a:solidFill>
                  <a:srgbClr val="1E293B"/>
                </a:solidFill>
              </a:defRPr>
            </a:pPr>
            <a:r>
              <a:t>In clinical practice, an obstetrician cannot save a mother with a ruptured uterus or placenta previa without blood, anesthesia, and electricity. National economic growth funds rural road paving, telecom coverage to dispatch ambulances, 24/7 surgical theater power, and cold-chain blood banking—turning fatal home emergencies into survivable hospital deliveries.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99232"/>
            <a:ext cx="10817352" cy="1572768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999232"/>
            <a:ext cx="109728" cy="15727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145536"/>
            <a:ext cx="1039672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766E"/>
                </a:solidFill>
              </a:defRPr>
            </a:pPr>
            <a:r>
              <a:t>2. THE BIOLOGICAL MECHANISM OF FERTILITY REDUCTION (PREVENTING UTERINE ATONY)</a:t>
            </a:r>
          </a:p>
          <a:p>
            <a:pPr>
              <a:defRPr sz="1380">
                <a:solidFill>
                  <a:srgbClr val="1E293B"/>
                </a:solidFill>
              </a:defRPr>
            </a:pPr>
            <a:r>
              <a:t>Our fixed-effects finding that falling TFR reduces MMR (-12.3% per child) reflects fundamental obstetric physiology: eliminating grand multiparity (parities &gt;= 5) removes the leading cause of refractory uterine atony and postpartum hemorrhage, while longer birth intervals prevent severe gestational iron-deficiency anemia.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718304"/>
            <a:ext cx="10817352" cy="1572768"/>
          </a:xfrm>
          <a:prstGeom prst="rect">
            <a:avLst/>
          </a:prstGeom>
          <a:solidFill>
            <a:srgbClr val="FEF2F2"/>
          </a:solidFill>
          <a:ln w="12700">
            <a:solidFill>
              <a:srgbClr val="BE2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718304"/>
            <a:ext cx="109728" cy="1572768"/>
          </a:xfrm>
          <a:prstGeom prst="rect">
            <a:avLst/>
          </a:prstGeom>
          <a:solidFill>
            <a:srgbClr val="BE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864608"/>
            <a:ext cx="10396728" cy="13167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BE2623"/>
                </a:solidFill>
              </a:defRPr>
            </a:pPr>
            <a:r>
              <a:t>3. WHY ADOLESCENT PREGNANCY IS AN ACUTE OBSTETRIC EMERGENCY (CPD &amp; ECLAMPSIA)</a:t>
            </a:r>
          </a:p>
          <a:p>
            <a:pPr>
              <a:defRPr sz="1380">
                <a:solidFill>
                  <a:srgbClr val="1E293B"/>
                </a:solidFill>
              </a:defRPr>
            </a:pPr>
            <a:r>
              <a:t>Across all decades, teenage childbearing (ages 15–19) remains a lethal independent predictor (+15.1% MMR per 10 births/1k). Biologically, pelvic immaturity causes cephalopelvic disproportion (CPD), obstructed labor, and eclampsia; socially, stigma and financial dependence trap teenagers in Delay 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92608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E2623"/>
                </a:solidFill>
              </a:defRPr>
            </a:pPr>
            <a:r>
              <a:t>EVIDENCE-BASED INTERVENTIONS FOR MATERNAL SURVIVAL</a:t>
            </a:r>
          </a:p>
          <a:p>
            <a:pPr>
              <a:spcBef>
                <a:spcPts val="200"/>
              </a:spcBef>
              <a:defRPr sz="2250" b="1">
                <a:solidFill>
                  <a:srgbClr val="1B365D"/>
                </a:solidFill>
              </a:defRPr>
            </a:pPr>
            <a:r>
              <a:t>Community Implications &amp; Actionable Public-Health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0817352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817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Maternal Mortality Community Research Project (2000–2023)  •  WHO/UN MMEIG 2025 &amp; World Bank WDI  •  Slide 15 of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5257800" cy="2423160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5257800" cy="73152"/>
          </a:xfrm>
          <a:prstGeom prst="rect">
            <a:avLst/>
          </a:prstGeom>
          <a:solidFill>
            <a:srgbClr val="BE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63039"/>
            <a:ext cx="4892040" cy="2130551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BE2623"/>
                </a:solidFill>
              </a:defRPr>
            </a:pPr>
            <a:r>
              <a:t>1. EXPAND ADOLESCENT REPRODUCTIVE HEALTHCARE</a:t>
            </a:r>
          </a:p>
          <a:p>
            <a:pPr>
              <a:spcAft>
                <a:spcPts val="800"/>
              </a:spcAft>
              <a:defRPr sz="1250" b="1">
                <a:solidFill>
                  <a:srgbClr val="475569"/>
                </a:solidFill>
              </a:defRPr>
            </a:pPr>
            <a:r>
              <a:t>Target: Delay 1, Obstructed Labor (CPD) &amp; Eclampsia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• Invest in girls' secondary school retention and comprehensive reproductive health education.</a:t>
            </a:r>
            <a:br/>
            <a:r>
              <a:t>• Provide stigma-free, youth-friendly community clinics and modern contraception to prevent high-risk teenage pregnancies.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280160"/>
            <a:ext cx="5257800" cy="2423160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5352" y="1280160"/>
            <a:ext cx="52578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39"/>
            <a:ext cx="4892040" cy="2130551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F766E"/>
                </a:solidFill>
              </a:defRPr>
            </a:pPr>
            <a:r>
              <a:t>2. STRENGTHEN RURAL OBSTETRIC REFERRAL NETWORKS</a:t>
            </a:r>
          </a:p>
          <a:p>
            <a:pPr>
              <a:spcAft>
                <a:spcPts val="800"/>
              </a:spcAft>
              <a:defRPr sz="1250" b="1">
                <a:solidFill>
                  <a:srgbClr val="475569"/>
                </a:solidFill>
              </a:defRPr>
            </a:pPr>
            <a:r>
              <a:t>Target: Delay 2 (Geographic &amp; Transport Barriers)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• Establish community maternity waiting homes near CEmOC referral hospitals for high-risk late-trimester mothers in remote villages.</a:t>
            </a:r>
            <a:br/>
            <a:r>
              <a:t>• Fund local motorcycle, boat, and rural ambulance networks.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886200"/>
            <a:ext cx="5257800" cy="2423160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886200"/>
            <a:ext cx="525780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4069080"/>
            <a:ext cx="4892040" cy="2130551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B365D"/>
                </a:solidFill>
              </a:defRPr>
            </a:pPr>
            <a:r>
              <a:t>3. RING-FENCE HEALTH BUDGETS &amp; REMOVE USER FEES</a:t>
            </a:r>
          </a:p>
          <a:p>
            <a:pPr>
              <a:spcAft>
                <a:spcPts val="800"/>
              </a:spcAft>
              <a:defRPr sz="1250" b="1">
                <a:solidFill>
                  <a:srgbClr val="475569"/>
                </a:solidFill>
              </a:defRPr>
            </a:pPr>
            <a:r>
              <a:t>Target: Delay 1 (Financial) &amp; Delay 3 (Facility Readiness)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• Prioritize domestic health spending (&gt;6.5% of GDP) even in lower-middle-income settings.</a:t>
            </a:r>
            <a:br/>
            <a:r>
              <a:t>• Abolish out-of-pocket delivery and emergency C-section fees while guaranteeing 24/7 oxytocin, MgSO4, and blood bank stocks.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3886200"/>
            <a:ext cx="5257800" cy="2423160"/>
          </a:xfrm>
          <a:prstGeom prst="rect">
            <a:avLst/>
          </a:prstGeom>
          <a:solidFill>
            <a:srgbClr val="F4F7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3886200"/>
            <a:ext cx="525780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4892040" cy="2130551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4338CA"/>
                </a:solidFill>
              </a:defRPr>
            </a:pPr>
            <a:r>
              <a:t>4. BUILD REAL-TIME CRVS &amp; MATERNAL DEATH AUDITS</a:t>
            </a:r>
          </a:p>
          <a:p>
            <a:pPr>
              <a:spcAft>
                <a:spcPts val="800"/>
              </a:spcAft>
              <a:defRPr sz="1250" b="1">
                <a:solidFill>
                  <a:srgbClr val="475569"/>
                </a:solidFill>
              </a:defRPr>
            </a:pPr>
            <a:r>
              <a:t>Target: Epidemiological Surveillance &amp; Accountability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• Transition from intermittent 5-year household surveys to complete Civil Registration and Vital Statistics (CRVS).</a:t>
            </a:r>
            <a:br/>
            <a:r>
              <a:t>• Institutionalize facility and community Maternal Death Surveillance and Response (MDSR) to prevent recurring clinical failures.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